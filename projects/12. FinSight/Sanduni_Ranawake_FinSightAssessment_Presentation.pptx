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4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F8229B-ACA6-4183-BF74-449FDBDCC4A6}" type="doc">
      <dgm:prSet loTypeId="urn:microsoft.com/office/officeart/2005/8/layout/pyramid2" loCatId="pyramid" qsTypeId="urn:microsoft.com/office/officeart/2005/8/quickstyle/3d4" qsCatId="3D" csTypeId="urn:microsoft.com/office/officeart/2005/8/colors/accent3_1" csCatId="accent3" phldr="1"/>
      <dgm:spPr/>
    </dgm:pt>
    <dgm:pt modelId="{32316A4F-7A28-4912-B98F-CB0E2F53F37D}">
      <dgm:prSet phldrT="[Text]" custT="1"/>
      <dgm:spPr/>
      <dgm:t>
        <a:bodyPr/>
        <a:lstStyle/>
        <a:p>
          <a:r>
            <a:rPr lang="en-US" sz="1600" dirty="0"/>
            <a:t>56+	                    Retirement phase</a:t>
          </a:r>
        </a:p>
      </dgm:t>
    </dgm:pt>
    <dgm:pt modelId="{F7D07A8C-80FA-4AB2-987C-CA1001BC480F}" type="parTrans" cxnId="{C29595AC-2D37-4FF8-8453-8C06C0C1B3AC}">
      <dgm:prSet/>
      <dgm:spPr/>
      <dgm:t>
        <a:bodyPr/>
        <a:lstStyle/>
        <a:p>
          <a:endParaRPr lang="en-US"/>
        </a:p>
      </dgm:t>
    </dgm:pt>
    <dgm:pt modelId="{9777A049-D934-4EBE-9F48-4077E09E968C}" type="sibTrans" cxnId="{C29595AC-2D37-4FF8-8453-8C06C0C1B3AC}">
      <dgm:prSet/>
      <dgm:spPr/>
      <dgm:t>
        <a:bodyPr/>
        <a:lstStyle/>
        <a:p>
          <a:endParaRPr lang="en-US"/>
        </a:p>
      </dgm:t>
    </dgm:pt>
    <dgm:pt modelId="{DA6CEC20-1150-4F4F-9765-487CFB225769}">
      <dgm:prSet phldrT="[Text]" custT="1"/>
      <dgm:spPr/>
      <dgm:t>
        <a:bodyPr/>
        <a:lstStyle/>
        <a:p>
          <a:r>
            <a:rPr lang="en-US" sz="1600" dirty="0"/>
            <a:t>46–55   Wealth accumulation</a:t>
          </a:r>
        </a:p>
      </dgm:t>
    </dgm:pt>
    <dgm:pt modelId="{C066F814-8561-4128-8BCF-E4496C7DE8D7}" type="parTrans" cxnId="{B9C90462-5C8B-43B1-B17A-86816A8E25D5}">
      <dgm:prSet/>
      <dgm:spPr/>
      <dgm:t>
        <a:bodyPr/>
        <a:lstStyle/>
        <a:p>
          <a:endParaRPr lang="en-US"/>
        </a:p>
      </dgm:t>
    </dgm:pt>
    <dgm:pt modelId="{A9FEC499-B977-49FA-BE6F-FFD5CD99669A}" type="sibTrans" cxnId="{B9C90462-5C8B-43B1-B17A-86816A8E25D5}">
      <dgm:prSet/>
      <dgm:spPr/>
      <dgm:t>
        <a:bodyPr/>
        <a:lstStyle/>
        <a:p>
          <a:endParaRPr lang="en-US"/>
        </a:p>
      </dgm:t>
    </dgm:pt>
    <dgm:pt modelId="{5622B02A-6A5A-44B7-99D0-55FDE3C2731E}">
      <dgm:prSet phldrT="[Text]" custT="1"/>
      <dgm:spPr/>
      <dgm:t>
        <a:bodyPr/>
        <a:lstStyle/>
        <a:p>
          <a:r>
            <a:rPr lang="en-US" sz="1600" dirty="0"/>
            <a:t>36–45	                             Peak earning years</a:t>
          </a:r>
        </a:p>
      </dgm:t>
    </dgm:pt>
    <dgm:pt modelId="{EA4C8611-446A-4E0B-B981-0271719757CC}" type="parTrans" cxnId="{A0A4085A-5700-483D-9295-3E27A5EC5CE8}">
      <dgm:prSet/>
      <dgm:spPr/>
      <dgm:t>
        <a:bodyPr/>
        <a:lstStyle/>
        <a:p>
          <a:endParaRPr lang="en-US"/>
        </a:p>
      </dgm:t>
    </dgm:pt>
    <dgm:pt modelId="{8ED205CC-DC9D-40F4-BC8B-E233D95703D9}" type="sibTrans" cxnId="{A0A4085A-5700-483D-9295-3E27A5EC5CE8}">
      <dgm:prSet/>
      <dgm:spPr/>
      <dgm:t>
        <a:bodyPr/>
        <a:lstStyle/>
        <a:p>
          <a:endParaRPr lang="en-US"/>
        </a:p>
      </dgm:t>
    </dgm:pt>
    <dgm:pt modelId="{1561A8DF-2B4D-4694-8B3D-EDD7D9C77DB2}">
      <dgm:prSet phldrT="[Text]" custT="1"/>
      <dgm:spPr/>
      <dgm:t>
        <a:bodyPr/>
        <a:lstStyle/>
        <a:p>
          <a:r>
            <a:rPr lang="en-US" sz="1600" dirty="0"/>
            <a:t>18–25                  Early earners</a:t>
          </a:r>
        </a:p>
      </dgm:t>
    </dgm:pt>
    <dgm:pt modelId="{0B04DC34-D671-4618-B2A1-B1B38C680AF6}" type="parTrans" cxnId="{4473AD98-2021-41BE-BA19-229259C7AFC2}">
      <dgm:prSet/>
      <dgm:spPr/>
      <dgm:t>
        <a:bodyPr/>
        <a:lstStyle/>
        <a:p>
          <a:endParaRPr lang="en-US"/>
        </a:p>
      </dgm:t>
    </dgm:pt>
    <dgm:pt modelId="{19C66B08-3765-4ACD-98D9-4A2AF7386575}" type="sibTrans" cxnId="{4473AD98-2021-41BE-BA19-229259C7AFC2}">
      <dgm:prSet/>
      <dgm:spPr/>
      <dgm:t>
        <a:bodyPr/>
        <a:lstStyle/>
        <a:p>
          <a:endParaRPr lang="en-US"/>
        </a:p>
      </dgm:t>
    </dgm:pt>
    <dgm:pt modelId="{7ABA175A-9A29-480E-8E37-2B962C1ACA25}">
      <dgm:prSet phldrT="[Text]" custT="1"/>
      <dgm:spPr/>
      <dgm:t>
        <a:bodyPr/>
        <a:lstStyle/>
        <a:p>
          <a:r>
            <a:rPr lang="en-US" sz="1600" dirty="0"/>
            <a:t>26–35 Income growth phase</a:t>
          </a:r>
        </a:p>
      </dgm:t>
    </dgm:pt>
    <dgm:pt modelId="{41953D26-041C-40BC-A382-E836362837A9}" type="parTrans" cxnId="{A95559B4-6D5D-400C-95CB-656DDCED31AE}">
      <dgm:prSet/>
      <dgm:spPr/>
      <dgm:t>
        <a:bodyPr/>
        <a:lstStyle/>
        <a:p>
          <a:endParaRPr lang="en-US"/>
        </a:p>
      </dgm:t>
    </dgm:pt>
    <dgm:pt modelId="{FB8A19B7-C381-45D7-83B0-72FA7FAD7897}" type="sibTrans" cxnId="{A95559B4-6D5D-400C-95CB-656DDCED31AE}">
      <dgm:prSet/>
      <dgm:spPr/>
      <dgm:t>
        <a:bodyPr/>
        <a:lstStyle/>
        <a:p>
          <a:endParaRPr lang="en-US"/>
        </a:p>
      </dgm:t>
    </dgm:pt>
    <dgm:pt modelId="{2AF569ED-92B9-4975-B823-8810051F050C}" type="pres">
      <dgm:prSet presAssocID="{A0F8229B-ACA6-4183-BF74-449FDBDCC4A6}" presName="compositeShape" presStyleCnt="0">
        <dgm:presLayoutVars>
          <dgm:dir/>
          <dgm:resizeHandles/>
        </dgm:presLayoutVars>
      </dgm:prSet>
      <dgm:spPr/>
    </dgm:pt>
    <dgm:pt modelId="{2FB82E21-D510-4F9F-BACD-E5A9078ADF15}" type="pres">
      <dgm:prSet presAssocID="{A0F8229B-ACA6-4183-BF74-449FDBDCC4A6}" presName="pyramid" presStyleLbl="node1" presStyleIdx="0" presStyleCnt="1"/>
      <dgm:spPr/>
    </dgm:pt>
    <dgm:pt modelId="{EF72214C-5F0D-4A0C-8AFE-A9D9F0A376D1}" type="pres">
      <dgm:prSet presAssocID="{A0F8229B-ACA6-4183-BF74-449FDBDCC4A6}" presName="theList" presStyleCnt="0"/>
      <dgm:spPr/>
    </dgm:pt>
    <dgm:pt modelId="{550822B7-A59F-49AE-8C4A-558FFE6D6E61}" type="pres">
      <dgm:prSet presAssocID="{32316A4F-7A28-4912-B98F-CB0E2F53F37D}" presName="aNode" presStyleLbl="fgAcc1" presStyleIdx="0" presStyleCnt="5" custLinFactY="-41414" custLinFactNeighborY="-100000">
        <dgm:presLayoutVars>
          <dgm:bulletEnabled val="1"/>
        </dgm:presLayoutVars>
      </dgm:prSet>
      <dgm:spPr/>
    </dgm:pt>
    <dgm:pt modelId="{4474A085-DD3C-450C-99DE-36941809704D}" type="pres">
      <dgm:prSet presAssocID="{32316A4F-7A28-4912-B98F-CB0E2F53F37D}" presName="aSpace" presStyleCnt="0"/>
      <dgm:spPr/>
    </dgm:pt>
    <dgm:pt modelId="{2A73821A-5EAB-4340-BBC4-CC6A59E21C02}" type="pres">
      <dgm:prSet presAssocID="{DA6CEC20-1150-4F4F-9765-487CFB225769}" presName="aNode" presStyleLbl="fgAcc1" presStyleIdx="1" presStyleCnt="5" custLinFactY="-24022" custLinFactNeighborY="-100000">
        <dgm:presLayoutVars>
          <dgm:bulletEnabled val="1"/>
        </dgm:presLayoutVars>
      </dgm:prSet>
      <dgm:spPr/>
    </dgm:pt>
    <dgm:pt modelId="{DE9F85D5-67BB-4824-A246-D5CEC53C8778}" type="pres">
      <dgm:prSet presAssocID="{DA6CEC20-1150-4F4F-9765-487CFB225769}" presName="aSpace" presStyleCnt="0"/>
      <dgm:spPr/>
    </dgm:pt>
    <dgm:pt modelId="{68B7E209-1F20-4020-A1F5-D936D8556F14}" type="pres">
      <dgm:prSet presAssocID="{5622B02A-6A5A-44B7-99D0-55FDE3C2731E}" presName="aNode" presStyleLbl="fgAcc1" presStyleIdx="2" presStyleCnt="5" custLinFactY="-6998" custLinFactNeighborY="-100000">
        <dgm:presLayoutVars>
          <dgm:bulletEnabled val="1"/>
        </dgm:presLayoutVars>
      </dgm:prSet>
      <dgm:spPr/>
    </dgm:pt>
    <dgm:pt modelId="{B90BFA2E-1952-4F5C-90B4-138905C4F2E7}" type="pres">
      <dgm:prSet presAssocID="{5622B02A-6A5A-44B7-99D0-55FDE3C2731E}" presName="aSpace" presStyleCnt="0"/>
      <dgm:spPr/>
    </dgm:pt>
    <dgm:pt modelId="{91A2A408-0E8D-4558-AA80-DCC92162BEAB}" type="pres">
      <dgm:prSet presAssocID="{7ABA175A-9A29-480E-8E37-2B962C1ACA25}" presName="aNode" presStyleLbl="fgAcc1" presStyleIdx="3" presStyleCnt="5" custLinFactNeighborY="-83480">
        <dgm:presLayoutVars>
          <dgm:bulletEnabled val="1"/>
        </dgm:presLayoutVars>
      </dgm:prSet>
      <dgm:spPr/>
    </dgm:pt>
    <dgm:pt modelId="{44B2C9E2-4864-43AE-8EBF-3E149C432C08}" type="pres">
      <dgm:prSet presAssocID="{7ABA175A-9A29-480E-8E37-2B962C1ACA25}" presName="aSpace" presStyleCnt="0"/>
      <dgm:spPr/>
    </dgm:pt>
    <dgm:pt modelId="{00EF8109-0315-469F-9C7B-7C7970C99B13}" type="pres">
      <dgm:prSet presAssocID="{1561A8DF-2B4D-4694-8B3D-EDD7D9C77DB2}" presName="aNode" presStyleLbl="fgAcc1" presStyleIdx="4" presStyleCnt="5" custLinFactY="3152" custLinFactNeighborX="-958" custLinFactNeighborY="100000">
        <dgm:presLayoutVars>
          <dgm:bulletEnabled val="1"/>
        </dgm:presLayoutVars>
      </dgm:prSet>
      <dgm:spPr/>
    </dgm:pt>
    <dgm:pt modelId="{65601542-FBDC-49DF-8BEE-333DA7D8E8B7}" type="pres">
      <dgm:prSet presAssocID="{1561A8DF-2B4D-4694-8B3D-EDD7D9C77DB2}" presName="aSpace" presStyleCnt="0"/>
      <dgm:spPr/>
    </dgm:pt>
  </dgm:ptLst>
  <dgm:cxnLst>
    <dgm:cxn modelId="{1B0FE50A-572A-4CB0-8EB5-93CF94B381C1}" type="presOf" srcId="{1561A8DF-2B4D-4694-8B3D-EDD7D9C77DB2}" destId="{00EF8109-0315-469F-9C7B-7C7970C99B13}" srcOrd="0" destOrd="0" presId="urn:microsoft.com/office/officeart/2005/8/layout/pyramid2"/>
    <dgm:cxn modelId="{CB852C61-6497-4125-B1B1-8ACF2D561F4D}" type="presOf" srcId="{DA6CEC20-1150-4F4F-9765-487CFB225769}" destId="{2A73821A-5EAB-4340-BBC4-CC6A59E21C02}" srcOrd="0" destOrd="0" presId="urn:microsoft.com/office/officeart/2005/8/layout/pyramid2"/>
    <dgm:cxn modelId="{B9C90462-5C8B-43B1-B17A-86816A8E25D5}" srcId="{A0F8229B-ACA6-4183-BF74-449FDBDCC4A6}" destId="{DA6CEC20-1150-4F4F-9765-487CFB225769}" srcOrd="1" destOrd="0" parTransId="{C066F814-8561-4128-8BCF-E4496C7DE8D7}" sibTransId="{A9FEC499-B977-49FA-BE6F-FFD5CD99669A}"/>
    <dgm:cxn modelId="{17D76C4C-B6FF-4FD4-B136-41ED30A736DF}" type="presOf" srcId="{7ABA175A-9A29-480E-8E37-2B962C1ACA25}" destId="{91A2A408-0E8D-4558-AA80-DCC92162BEAB}" srcOrd="0" destOrd="0" presId="urn:microsoft.com/office/officeart/2005/8/layout/pyramid2"/>
    <dgm:cxn modelId="{8C12D04D-837C-45DA-8C25-D8F12273A7B7}" type="presOf" srcId="{A0F8229B-ACA6-4183-BF74-449FDBDCC4A6}" destId="{2AF569ED-92B9-4975-B823-8810051F050C}" srcOrd="0" destOrd="0" presId="urn:microsoft.com/office/officeart/2005/8/layout/pyramid2"/>
    <dgm:cxn modelId="{7C2B8850-D041-43D2-94BF-39B123B83E45}" type="presOf" srcId="{5622B02A-6A5A-44B7-99D0-55FDE3C2731E}" destId="{68B7E209-1F20-4020-A1F5-D936D8556F14}" srcOrd="0" destOrd="0" presId="urn:microsoft.com/office/officeart/2005/8/layout/pyramid2"/>
    <dgm:cxn modelId="{A0A4085A-5700-483D-9295-3E27A5EC5CE8}" srcId="{A0F8229B-ACA6-4183-BF74-449FDBDCC4A6}" destId="{5622B02A-6A5A-44B7-99D0-55FDE3C2731E}" srcOrd="2" destOrd="0" parTransId="{EA4C8611-446A-4E0B-B981-0271719757CC}" sibTransId="{8ED205CC-DC9D-40F4-BC8B-E233D95703D9}"/>
    <dgm:cxn modelId="{4473AD98-2021-41BE-BA19-229259C7AFC2}" srcId="{A0F8229B-ACA6-4183-BF74-449FDBDCC4A6}" destId="{1561A8DF-2B4D-4694-8B3D-EDD7D9C77DB2}" srcOrd="4" destOrd="0" parTransId="{0B04DC34-D671-4618-B2A1-B1B38C680AF6}" sibTransId="{19C66B08-3765-4ACD-98D9-4A2AF7386575}"/>
    <dgm:cxn modelId="{C190EDA2-0E3C-47E4-B8B6-3C388BD62A66}" type="presOf" srcId="{32316A4F-7A28-4912-B98F-CB0E2F53F37D}" destId="{550822B7-A59F-49AE-8C4A-558FFE6D6E61}" srcOrd="0" destOrd="0" presId="urn:microsoft.com/office/officeart/2005/8/layout/pyramid2"/>
    <dgm:cxn modelId="{C29595AC-2D37-4FF8-8453-8C06C0C1B3AC}" srcId="{A0F8229B-ACA6-4183-BF74-449FDBDCC4A6}" destId="{32316A4F-7A28-4912-B98F-CB0E2F53F37D}" srcOrd="0" destOrd="0" parTransId="{F7D07A8C-80FA-4AB2-987C-CA1001BC480F}" sibTransId="{9777A049-D934-4EBE-9F48-4077E09E968C}"/>
    <dgm:cxn modelId="{A95559B4-6D5D-400C-95CB-656DDCED31AE}" srcId="{A0F8229B-ACA6-4183-BF74-449FDBDCC4A6}" destId="{7ABA175A-9A29-480E-8E37-2B962C1ACA25}" srcOrd="3" destOrd="0" parTransId="{41953D26-041C-40BC-A382-E836362837A9}" sibTransId="{FB8A19B7-C381-45D7-83B0-72FA7FAD7897}"/>
    <dgm:cxn modelId="{6FE77AA8-F65F-4B5D-BDB2-B675A4751CAE}" type="presParOf" srcId="{2AF569ED-92B9-4975-B823-8810051F050C}" destId="{2FB82E21-D510-4F9F-BACD-E5A9078ADF15}" srcOrd="0" destOrd="0" presId="urn:microsoft.com/office/officeart/2005/8/layout/pyramid2"/>
    <dgm:cxn modelId="{6F0B5547-2A6A-4129-B778-8CFFA209AED7}" type="presParOf" srcId="{2AF569ED-92B9-4975-B823-8810051F050C}" destId="{EF72214C-5F0D-4A0C-8AFE-A9D9F0A376D1}" srcOrd="1" destOrd="0" presId="urn:microsoft.com/office/officeart/2005/8/layout/pyramid2"/>
    <dgm:cxn modelId="{BDC1E0F4-FE2E-4A9D-83F4-C85EA3904317}" type="presParOf" srcId="{EF72214C-5F0D-4A0C-8AFE-A9D9F0A376D1}" destId="{550822B7-A59F-49AE-8C4A-558FFE6D6E61}" srcOrd="0" destOrd="0" presId="urn:microsoft.com/office/officeart/2005/8/layout/pyramid2"/>
    <dgm:cxn modelId="{5CC7EF95-450B-415B-AF17-E862A3734358}" type="presParOf" srcId="{EF72214C-5F0D-4A0C-8AFE-A9D9F0A376D1}" destId="{4474A085-DD3C-450C-99DE-36941809704D}" srcOrd="1" destOrd="0" presId="urn:microsoft.com/office/officeart/2005/8/layout/pyramid2"/>
    <dgm:cxn modelId="{DAA590DE-22A7-4702-9A0D-AF3ADC32797D}" type="presParOf" srcId="{EF72214C-5F0D-4A0C-8AFE-A9D9F0A376D1}" destId="{2A73821A-5EAB-4340-BBC4-CC6A59E21C02}" srcOrd="2" destOrd="0" presId="urn:microsoft.com/office/officeart/2005/8/layout/pyramid2"/>
    <dgm:cxn modelId="{B853B3F6-3539-4354-A877-B6A049D5002B}" type="presParOf" srcId="{EF72214C-5F0D-4A0C-8AFE-A9D9F0A376D1}" destId="{DE9F85D5-67BB-4824-A246-D5CEC53C8778}" srcOrd="3" destOrd="0" presId="urn:microsoft.com/office/officeart/2005/8/layout/pyramid2"/>
    <dgm:cxn modelId="{A64E3289-DE7A-4024-85F5-D70E67874DE2}" type="presParOf" srcId="{EF72214C-5F0D-4A0C-8AFE-A9D9F0A376D1}" destId="{68B7E209-1F20-4020-A1F5-D936D8556F14}" srcOrd="4" destOrd="0" presId="urn:microsoft.com/office/officeart/2005/8/layout/pyramid2"/>
    <dgm:cxn modelId="{624802D5-F1EC-491D-B710-C169EFB409DE}" type="presParOf" srcId="{EF72214C-5F0D-4A0C-8AFE-A9D9F0A376D1}" destId="{B90BFA2E-1952-4F5C-90B4-138905C4F2E7}" srcOrd="5" destOrd="0" presId="urn:microsoft.com/office/officeart/2005/8/layout/pyramid2"/>
    <dgm:cxn modelId="{5960D332-8758-4343-BAF3-D78B33D18CBA}" type="presParOf" srcId="{EF72214C-5F0D-4A0C-8AFE-A9D9F0A376D1}" destId="{91A2A408-0E8D-4558-AA80-DCC92162BEAB}" srcOrd="6" destOrd="0" presId="urn:microsoft.com/office/officeart/2005/8/layout/pyramid2"/>
    <dgm:cxn modelId="{87B52DFA-0F34-427B-8C94-16AC9BBFF280}" type="presParOf" srcId="{EF72214C-5F0D-4A0C-8AFE-A9D9F0A376D1}" destId="{44B2C9E2-4864-43AE-8EBF-3E149C432C08}" srcOrd="7" destOrd="0" presId="urn:microsoft.com/office/officeart/2005/8/layout/pyramid2"/>
    <dgm:cxn modelId="{49C543B9-1ABC-44C0-98D9-7A01D9D27A39}" type="presParOf" srcId="{EF72214C-5F0D-4A0C-8AFE-A9D9F0A376D1}" destId="{00EF8109-0315-469F-9C7B-7C7970C99B13}" srcOrd="8" destOrd="0" presId="urn:microsoft.com/office/officeart/2005/8/layout/pyramid2"/>
    <dgm:cxn modelId="{78129EBC-6E5C-45C3-A316-FCB7538FC734}" type="presParOf" srcId="{EF72214C-5F0D-4A0C-8AFE-A9D9F0A376D1}" destId="{65601542-FBDC-49DF-8BEE-333DA7D8E8B7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B82E21-D510-4F9F-BACD-E5A9078ADF15}">
      <dsp:nvSpPr>
        <dsp:cNvPr id="0" name=""/>
        <dsp:cNvSpPr/>
      </dsp:nvSpPr>
      <dsp:spPr>
        <a:xfrm>
          <a:off x="0" y="0"/>
          <a:ext cx="3157006" cy="3976056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822B7-A59F-49AE-8C4A-558FFE6D6E61}">
      <dsp:nvSpPr>
        <dsp:cNvPr id="0" name=""/>
        <dsp:cNvSpPr/>
      </dsp:nvSpPr>
      <dsp:spPr>
        <a:xfrm>
          <a:off x="1578503" y="93193"/>
          <a:ext cx="2052053" cy="565345"/>
        </a:xfrm>
        <a:prstGeom prst="round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56+	                    Retirement phase</a:t>
          </a:r>
        </a:p>
      </dsp:txBody>
      <dsp:txXfrm>
        <a:off x="1606101" y="120791"/>
        <a:ext cx="1996857" cy="510149"/>
      </dsp:txXfrm>
    </dsp:sp>
    <dsp:sp modelId="{2A73821A-5EAB-4340-BBC4-CC6A59E21C02}">
      <dsp:nvSpPr>
        <dsp:cNvPr id="0" name=""/>
        <dsp:cNvSpPr/>
      </dsp:nvSpPr>
      <dsp:spPr>
        <a:xfrm>
          <a:off x="1578503" y="827532"/>
          <a:ext cx="2052053" cy="565345"/>
        </a:xfrm>
        <a:prstGeom prst="round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46–55   Wealth accumulation</a:t>
          </a:r>
        </a:p>
      </dsp:txBody>
      <dsp:txXfrm>
        <a:off x="1606101" y="855130"/>
        <a:ext cx="1996857" cy="510149"/>
      </dsp:txXfrm>
    </dsp:sp>
    <dsp:sp modelId="{68B7E209-1F20-4020-A1F5-D936D8556F14}">
      <dsp:nvSpPr>
        <dsp:cNvPr id="0" name=""/>
        <dsp:cNvSpPr/>
      </dsp:nvSpPr>
      <dsp:spPr>
        <a:xfrm>
          <a:off x="1578503" y="1559790"/>
          <a:ext cx="2052053" cy="565345"/>
        </a:xfrm>
        <a:prstGeom prst="round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36–45	                             Peak earning years</a:t>
          </a:r>
        </a:p>
      </dsp:txBody>
      <dsp:txXfrm>
        <a:off x="1606101" y="1587388"/>
        <a:ext cx="1996857" cy="510149"/>
      </dsp:txXfrm>
    </dsp:sp>
    <dsp:sp modelId="{91A2A408-0E8D-4558-AA80-DCC92162BEAB}">
      <dsp:nvSpPr>
        <dsp:cNvPr id="0" name=""/>
        <dsp:cNvSpPr/>
      </dsp:nvSpPr>
      <dsp:spPr>
        <a:xfrm>
          <a:off x="1578503" y="2247041"/>
          <a:ext cx="2052053" cy="565345"/>
        </a:xfrm>
        <a:prstGeom prst="round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26–35 Income growth phase</a:t>
          </a:r>
        </a:p>
      </dsp:txBody>
      <dsp:txXfrm>
        <a:off x="1606101" y="2274639"/>
        <a:ext cx="1996857" cy="510149"/>
      </dsp:txXfrm>
    </dsp:sp>
    <dsp:sp modelId="{00EF8109-0315-469F-9C7B-7C7970C99B13}">
      <dsp:nvSpPr>
        <dsp:cNvPr id="0" name=""/>
        <dsp:cNvSpPr/>
      </dsp:nvSpPr>
      <dsp:spPr>
        <a:xfrm>
          <a:off x="1558844" y="3030536"/>
          <a:ext cx="2052053" cy="565345"/>
        </a:xfrm>
        <a:prstGeom prst="round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18–25                  Early earners</a:t>
          </a:r>
        </a:p>
      </dsp:txBody>
      <dsp:txXfrm>
        <a:off x="1586442" y="3058134"/>
        <a:ext cx="1996857" cy="510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4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1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7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7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6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6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6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2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0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business-review.eu/money/finance/finance-leaders-to-focus-on-cost-discipline-and-ai-adoption-amid-complex-global-risks-in-2025-2026-289848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87BB53B-6C8D-48C8-AEC0-4932AD44962D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3014C56-2D15-4B07-9BD4-DE7DC6414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3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5" r:id="rId1"/>
    <p:sldLayoutId id="2147484326" r:id="rId2"/>
    <p:sldLayoutId id="2147484327" r:id="rId3"/>
    <p:sldLayoutId id="2147484328" r:id="rId4"/>
    <p:sldLayoutId id="2147484329" r:id="rId5"/>
    <p:sldLayoutId id="2147484330" r:id="rId6"/>
    <p:sldLayoutId id="2147484331" r:id="rId7"/>
    <p:sldLayoutId id="2147484332" r:id="rId8"/>
    <p:sldLayoutId id="2147484333" r:id="rId9"/>
    <p:sldLayoutId id="2147484334" r:id="rId10"/>
    <p:sldLayoutId id="214748433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-review.eu/money/finance/finance-leaders-to-focus-on-cost-discipline-and-ai-adoption-amid-complex-global-risks-in-2025-2026-289848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-review.eu/money/finance/finance-leaders-to-focus-on-cost-discipline-and-ai-adoption-amid-complex-global-risks-in-2025-2026-289848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06E8-D987-4AD9-8646-E3050E59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971" y="1487851"/>
            <a:ext cx="8425174" cy="914400"/>
          </a:xfrm>
        </p:spPr>
        <p:txBody>
          <a:bodyPr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 err="1">
                <a:ln/>
              </a:rPr>
              <a:t>FinSight</a:t>
            </a:r>
            <a:r>
              <a:rPr lang="en-US" sz="3600" b="1" dirty="0">
                <a:ln/>
              </a:rPr>
              <a:t> Lanka</a:t>
            </a:r>
            <a:endParaRPr lang="en-US" b="1" dirty="0">
              <a:ln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8D465-6214-439D-9659-7C3BD2E17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8971" y="2258235"/>
            <a:ext cx="8750710" cy="1209370"/>
          </a:xfrm>
        </p:spPr>
        <p:txBody>
          <a:bodyPr>
            <a:normAutofit/>
          </a:bodyPr>
          <a:lstStyle/>
          <a:p>
            <a:r>
              <a:rPr lang="en-US" sz="2800" b="1" dirty="0">
                <a:ln/>
                <a:solidFill>
                  <a:schemeClr val="tx1"/>
                </a:solidFill>
              </a:rPr>
              <a:t>Customer Data Analysis &amp; Business Insights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1F1447B-A958-4611-A86F-D8A33D934A82}"/>
              </a:ext>
            </a:extLst>
          </p:cNvPr>
          <p:cNvSpPr txBox="1">
            <a:spLocks/>
          </p:cNvSpPr>
          <p:nvPr/>
        </p:nvSpPr>
        <p:spPr>
          <a:xfrm>
            <a:off x="8298428" y="3172635"/>
            <a:ext cx="2271253" cy="12093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/>
              <a:t>Presented By</a:t>
            </a:r>
          </a:p>
          <a:p>
            <a:pPr algn="l"/>
            <a:r>
              <a:rPr lang="en-US" sz="1600" dirty="0"/>
              <a:t>Sanduni Ranawake</a:t>
            </a:r>
          </a:p>
          <a:p>
            <a:pPr algn="l"/>
            <a:r>
              <a:rPr lang="en-US" sz="1600" dirty="0"/>
              <a:t>Date: 18/05/2026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6511371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9E35-E4D8-4107-85A6-1D404B8F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569" y="1365"/>
            <a:ext cx="10247669" cy="73851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Business Objective &amp;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D969-6A1D-4332-9736-867D2876A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2" y="3510116"/>
            <a:ext cx="10085436" cy="32151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Dataset Overview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2BBDFB-A10A-411D-975B-D67DC46F8A99}"/>
              </a:ext>
            </a:extLst>
          </p:cNvPr>
          <p:cNvSpPr txBox="1">
            <a:spLocks/>
          </p:cNvSpPr>
          <p:nvPr/>
        </p:nvSpPr>
        <p:spPr>
          <a:xfrm>
            <a:off x="1447801" y="943896"/>
            <a:ext cx="8834281" cy="24851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Objective</a:t>
            </a:r>
          </a:p>
          <a:p>
            <a:pPr lvl="1"/>
            <a:r>
              <a:rPr lang="en-US" sz="1700" dirty="0">
                <a:solidFill>
                  <a:schemeClr val="tx1"/>
                </a:solidFill>
              </a:rPr>
              <a:t>The objective of this analysis was to evaluate:</a:t>
            </a:r>
          </a:p>
          <a:p>
            <a:pPr lvl="2"/>
            <a:r>
              <a:rPr lang="en-US" sz="1700" dirty="0">
                <a:solidFill>
                  <a:schemeClr val="tx1"/>
                </a:solidFill>
              </a:rPr>
              <a:t>Customer savings behavior</a:t>
            </a:r>
          </a:p>
          <a:p>
            <a:pPr lvl="2"/>
            <a:r>
              <a:rPr lang="en-US" sz="1700" dirty="0">
                <a:solidFill>
                  <a:schemeClr val="tx1"/>
                </a:solidFill>
              </a:rPr>
              <a:t>Loan portfolio risk</a:t>
            </a:r>
          </a:p>
          <a:p>
            <a:pPr lvl="2"/>
            <a:r>
              <a:rPr lang="en-US" sz="1700" dirty="0">
                <a:solidFill>
                  <a:schemeClr val="tx1"/>
                </a:solidFill>
              </a:rPr>
              <a:t>Digital engagement</a:t>
            </a:r>
          </a:p>
          <a:p>
            <a:pPr lvl="2"/>
            <a:r>
              <a:rPr lang="en-US" sz="1700" dirty="0">
                <a:solidFill>
                  <a:schemeClr val="tx1"/>
                </a:solidFill>
              </a:rPr>
              <a:t>Cross-sell opportunities</a:t>
            </a:r>
          </a:p>
          <a:p>
            <a:pPr lvl="2"/>
            <a:r>
              <a:rPr lang="en-US" sz="1700" dirty="0">
                <a:solidFill>
                  <a:schemeClr val="tx1"/>
                </a:solidFill>
              </a:rPr>
              <a:t>Overall customer health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AA38C8-E3B8-43EA-B164-8A88BD5D6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044226"/>
              </p:ext>
            </p:extLst>
          </p:nvPr>
        </p:nvGraphicFramePr>
        <p:xfrm>
          <a:off x="1992261" y="3994084"/>
          <a:ext cx="7745360" cy="251891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72680">
                  <a:extLst>
                    <a:ext uri="{9D8B030D-6E8A-4147-A177-3AD203B41FA5}">
                      <a16:colId xmlns:a16="http://schemas.microsoft.com/office/drawing/2014/main" val="1852297892"/>
                    </a:ext>
                  </a:extLst>
                </a:gridCol>
                <a:gridCol w="3872680">
                  <a:extLst>
                    <a:ext uri="{9D8B030D-6E8A-4147-A177-3AD203B41FA5}">
                      <a16:colId xmlns:a16="http://schemas.microsoft.com/office/drawing/2014/main" val="1616691968"/>
                    </a:ext>
                  </a:extLst>
                </a:gridCol>
              </a:tblGrid>
              <a:tr h="48494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060150"/>
                  </a:ext>
                </a:extLst>
              </a:tr>
              <a:tr h="484948">
                <a:tc>
                  <a:txBody>
                    <a:bodyPr/>
                    <a:lstStyle/>
                    <a:p>
                      <a:r>
                        <a:rPr lang="en-US" sz="1600" dirty="0"/>
                        <a:t>Total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500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761056"/>
                  </a:ext>
                </a:extLst>
              </a:tr>
              <a:tr h="484948">
                <a:tc>
                  <a:txBody>
                    <a:bodyPr/>
                    <a:lstStyle/>
                    <a:p>
                      <a:r>
                        <a:rPr lang="en-US" sz="1600" dirty="0"/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Savings, Loans, Insurance, Fixed Deposits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261809"/>
                  </a:ext>
                </a:extLst>
              </a:tr>
              <a:tr h="484948">
                <a:tc>
                  <a:txBody>
                    <a:bodyPr/>
                    <a:lstStyle/>
                    <a:p>
                      <a:r>
                        <a:rPr lang="en-US" sz="1600" dirty="0"/>
                        <a:t>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Digital, Branch, Agent, Referral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676174"/>
                  </a:ext>
                </a:extLst>
              </a:tr>
              <a:tr h="484948">
                <a:tc>
                  <a:txBody>
                    <a:bodyPr/>
                    <a:lstStyle/>
                    <a:p>
                      <a:r>
                        <a:rPr lang="en-US" sz="1600" dirty="0"/>
                        <a:t>Geographic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All Provinces in Sri Lanka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38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85861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64B6-6F5E-42CB-8B24-0C8390041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0"/>
            <a:ext cx="9601196" cy="640856"/>
          </a:xfrm>
        </p:spPr>
        <p:txBody>
          <a:bodyPr>
            <a:normAutofit/>
          </a:bodyPr>
          <a:lstStyle/>
          <a:p>
            <a:r>
              <a:rPr lang="en-US" sz="3600" b="1" dirty="0"/>
              <a:t>Data Cleaning &amp; Preparation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83A8258-254C-4FEB-98E6-263547929C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112911"/>
              </p:ext>
            </p:extLst>
          </p:nvPr>
        </p:nvGraphicFramePr>
        <p:xfrm>
          <a:off x="1396447" y="1279817"/>
          <a:ext cx="9399104" cy="5047670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4397732">
                  <a:extLst>
                    <a:ext uri="{9D8B030D-6E8A-4147-A177-3AD203B41FA5}">
                      <a16:colId xmlns:a16="http://schemas.microsoft.com/office/drawing/2014/main" val="1039506850"/>
                    </a:ext>
                  </a:extLst>
                </a:gridCol>
                <a:gridCol w="5001372">
                  <a:extLst>
                    <a:ext uri="{9D8B030D-6E8A-4147-A177-3AD203B41FA5}">
                      <a16:colId xmlns:a16="http://schemas.microsoft.com/office/drawing/2014/main" val="2649288328"/>
                    </a:ext>
                  </a:extLst>
                </a:gridCol>
              </a:tblGrid>
              <a:tr h="2656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Problem Identified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>
                          <a:effectLst/>
                        </a:rPr>
                        <a:t>Cleaning Performed</a:t>
                      </a:r>
                      <a:endParaRPr lang="en-US" sz="1400" b="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101387"/>
                  </a:ext>
                </a:extLst>
              </a:tr>
              <a:tr h="5313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Duplicate customer records were found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Removed duplicate rows to maintain unique customer records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391781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Missing values in </a:t>
                      </a:r>
                      <a:r>
                        <a:rPr lang="en-US" sz="1400" b="0" kern="0" dirty="0" err="1">
                          <a:effectLst/>
                        </a:rPr>
                        <a:t>Full_Name</a:t>
                      </a:r>
                      <a:r>
                        <a:rPr lang="en-US" sz="1400" b="0" kern="0" dirty="0">
                          <a:effectLst/>
                        </a:rPr>
                        <a:t> column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Filled or corrected missing customer names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851744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Missing values in District column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>
                          <a:effectLst/>
                        </a:rPr>
                        <a:t>Filled missing district values</a:t>
                      </a:r>
                      <a:endParaRPr lang="en-US" sz="1400" b="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526314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Missing values in </a:t>
                      </a:r>
                      <a:r>
                        <a:rPr lang="en-US" sz="1400" b="0" kern="0" dirty="0" err="1">
                          <a:effectLst/>
                        </a:rPr>
                        <a:t>Customer_Segment</a:t>
                      </a:r>
                      <a:r>
                        <a:rPr lang="en-US" sz="1400" b="0" kern="0" dirty="0">
                          <a:effectLst/>
                        </a:rPr>
                        <a:t> column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>
                          <a:effectLst/>
                        </a:rPr>
                        <a:t>Replaced missing customer segment entries</a:t>
                      </a:r>
                      <a:endParaRPr lang="en-US" sz="1400" b="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309664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Missing values in </a:t>
                      </a:r>
                      <a:r>
                        <a:rPr lang="en-US" sz="1400" b="0" kern="0" dirty="0" err="1">
                          <a:effectLst/>
                        </a:rPr>
                        <a:t>Savings_Balance</a:t>
                      </a:r>
                      <a:r>
                        <a:rPr lang="en-US" sz="1400" b="0" kern="0" dirty="0">
                          <a:effectLst/>
                        </a:rPr>
                        <a:t> column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>
                          <a:effectLst/>
                        </a:rPr>
                        <a:t>Filled missing savings balance values</a:t>
                      </a:r>
                      <a:endParaRPr lang="en-US" sz="1400" b="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035547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Missing values in </a:t>
                      </a:r>
                      <a:r>
                        <a:rPr lang="en-US" sz="1400" b="0" kern="0" dirty="0" err="1">
                          <a:effectLst/>
                        </a:rPr>
                        <a:t>Monthly_Deposit_Avg</a:t>
                      </a:r>
                      <a:r>
                        <a:rPr lang="en-US" sz="1400" b="0" kern="0" dirty="0">
                          <a:effectLst/>
                        </a:rPr>
                        <a:t> column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Filled missing monthly deposit average values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272265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Missing values in </a:t>
                      </a:r>
                      <a:r>
                        <a:rPr lang="en-US" sz="1400" b="0" kern="0" dirty="0" err="1">
                          <a:effectLst/>
                        </a:rPr>
                        <a:t>Has_Loan</a:t>
                      </a:r>
                      <a:r>
                        <a:rPr lang="en-US" sz="1400" b="0" kern="0" dirty="0">
                          <a:effectLst/>
                        </a:rPr>
                        <a:t> column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Updated missing loan status values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695447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Many missing values in </a:t>
                      </a:r>
                      <a:r>
                        <a:rPr lang="en-US" sz="1400" b="0" kern="0" dirty="0" err="1">
                          <a:effectLst/>
                        </a:rPr>
                        <a:t>Loan_Type</a:t>
                      </a:r>
                      <a:r>
                        <a:rPr lang="en-US" sz="1400" b="0" kern="0" dirty="0">
                          <a:effectLst/>
                        </a:rPr>
                        <a:t> column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Replaced missing values with “Not Applicable”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02167"/>
                  </a:ext>
                </a:extLst>
              </a:tr>
              <a:tr h="7978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Many missing values in </a:t>
                      </a:r>
                      <a:r>
                        <a:rPr lang="en-US" sz="1400" b="0" kern="0" dirty="0" err="1">
                          <a:effectLst/>
                        </a:rPr>
                        <a:t>Loan_Amount</a:t>
                      </a:r>
                      <a:r>
                        <a:rPr lang="en-US" sz="1400" b="0" kern="0" dirty="0">
                          <a:effectLst/>
                        </a:rPr>
                        <a:t> , </a:t>
                      </a:r>
                      <a:r>
                        <a:rPr lang="en-US" sz="1400" b="0" kern="0" dirty="0" err="1">
                          <a:effectLst/>
                        </a:rPr>
                        <a:t>Loan_Tenure_Months</a:t>
                      </a:r>
                      <a:r>
                        <a:rPr lang="en-US" sz="1400" b="0" kern="0" dirty="0">
                          <a:effectLst/>
                        </a:rPr>
                        <a:t>, </a:t>
                      </a:r>
                      <a:r>
                        <a:rPr lang="en-US" sz="1400" b="0" kern="0" dirty="0" err="1">
                          <a:effectLst/>
                        </a:rPr>
                        <a:t>Monthly_Repayment_Amount</a:t>
                      </a:r>
                      <a:r>
                        <a:rPr lang="en-US" sz="1400" b="0" kern="0" dirty="0">
                          <a:effectLst/>
                        </a:rPr>
                        <a:t>, </a:t>
                      </a:r>
                      <a:r>
                        <a:rPr lang="en-US" sz="1400" b="0" kern="0" dirty="0" err="1">
                          <a:effectLst/>
                        </a:rPr>
                        <a:t>Outstanding_Loan_Balance</a:t>
                      </a:r>
                      <a:r>
                        <a:rPr lang="en-US" sz="1400" b="0" kern="0" dirty="0">
                          <a:effectLst/>
                        </a:rPr>
                        <a:t>, </a:t>
                      </a:r>
                      <a:r>
                        <a:rPr lang="en-US" sz="1400" b="0" kern="0" dirty="0" err="1">
                          <a:effectLst/>
                        </a:rPr>
                        <a:t>FD_Amount</a:t>
                      </a:r>
                      <a:r>
                        <a:rPr lang="en-US" sz="1400" b="0" kern="0" dirty="0">
                          <a:effectLst/>
                        </a:rPr>
                        <a:t> columns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Replaced missing values with 0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503093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Missing values in </a:t>
                      </a:r>
                      <a:r>
                        <a:rPr lang="en-US" sz="1400" b="0" kern="0" dirty="0" err="1">
                          <a:effectLst/>
                        </a:rPr>
                        <a:t>Loan_Repayment_Status</a:t>
                      </a:r>
                      <a:r>
                        <a:rPr lang="en-US" sz="1400" b="0" kern="0" dirty="0">
                          <a:effectLst/>
                        </a:rPr>
                        <a:t> column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Replaced missing values with “Unknown”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766521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>
                          <a:effectLst/>
                        </a:rPr>
                        <a:t>Missing values in Referral_Source column</a:t>
                      </a:r>
                      <a:endParaRPr lang="en-US" sz="1400" b="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Filled missing values with suitable placeholders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862466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>
                          <a:effectLst/>
                        </a:rPr>
                        <a:t>Inconsistent date formats</a:t>
                      </a:r>
                      <a:endParaRPr lang="en-US" sz="1400" b="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Standardized all date columns into a consistent format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8955008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>
                          <a:effectLst/>
                        </a:rPr>
                        <a:t>Inconsistent numeric formats</a:t>
                      </a:r>
                      <a:endParaRPr lang="en-US" sz="1400" b="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Standardized numeric values and formats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158348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>
                          <a:effectLst/>
                        </a:rPr>
                        <a:t>Blank and inconsistent text entries</a:t>
                      </a:r>
                      <a:endParaRPr lang="en-US" sz="1400" b="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Standardized text and categorical values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088931"/>
                  </a:ext>
                </a:extLst>
              </a:tr>
              <a:tr h="2656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Dataset contained incomplete and inconsistent data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0" dirty="0">
                          <a:effectLst/>
                        </a:rPr>
                        <a:t>Cleaned and prepared dataset for analysis and reporting</a:t>
                      </a:r>
                      <a:endParaRPr lang="en-US" sz="1400" b="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964" marR="6964" marT="6964" marB="6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15133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9F38466-D730-4E94-94D8-2F71FEBAA943}"/>
              </a:ext>
            </a:extLst>
          </p:cNvPr>
          <p:cNvSpPr txBox="1"/>
          <p:nvPr/>
        </p:nvSpPr>
        <p:spPr>
          <a:xfrm>
            <a:off x="1295401" y="530515"/>
            <a:ext cx="9915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Accurate business insights depend on clean and reliable data. So creating a standardized and analysis-ready customer dataset is very important.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37916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9CEE-E275-47EA-82F5-5F1115BE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0"/>
            <a:ext cx="9601196" cy="865239"/>
          </a:xfrm>
        </p:spPr>
        <p:txBody>
          <a:bodyPr>
            <a:normAutofit/>
          </a:bodyPr>
          <a:lstStyle/>
          <a:p>
            <a:r>
              <a:rPr lang="en-US" sz="3600" b="1" dirty="0"/>
              <a:t>Customer Savings </a:t>
            </a:r>
            <a:r>
              <a:rPr lang="en-US" sz="3600" b="1" dirty="0" err="1"/>
              <a:t>Behaviour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DB11-27CB-4053-A765-B3B93983A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194618"/>
            <a:ext cx="9601196" cy="440485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b="1" dirty="0"/>
              <a:t>Key Findings</a:t>
            </a:r>
          </a:p>
          <a:p>
            <a:pPr marL="0" indent="0" algn="just">
              <a:buNone/>
            </a:pPr>
            <a:endParaRPr lang="en-US" sz="1800" b="1" dirty="0"/>
          </a:p>
          <a:p>
            <a:pPr marL="0" indent="0" algn="just">
              <a:buNone/>
            </a:pPr>
            <a:r>
              <a:rPr lang="en-US" b="1" dirty="0"/>
              <a:t>1. </a:t>
            </a:r>
            <a:r>
              <a:rPr lang="en-US" sz="1800" b="1" dirty="0"/>
              <a:t>Customer Segment Insights</a:t>
            </a:r>
          </a:p>
          <a:p>
            <a:pPr lvl="2" algn="just"/>
            <a:r>
              <a:rPr lang="en-US" dirty="0"/>
              <a:t>Premium customers held the highest average savings balances.</a:t>
            </a:r>
          </a:p>
          <a:p>
            <a:pPr lvl="2" algn="just"/>
            <a:r>
              <a:rPr lang="en-US" dirty="0"/>
              <a:t>Starter and unknown segments maintained significantly lower balances.</a:t>
            </a:r>
          </a:p>
          <a:p>
            <a:pPr marL="0" indent="0" algn="just">
              <a:buNone/>
            </a:pPr>
            <a:r>
              <a:rPr lang="en-US" b="1" dirty="0"/>
              <a:t>	</a:t>
            </a:r>
          </a:p>
          <a:p>
            <a:pPr marL="0" indent="0" algn="just">
              <a:buNone/>
            </a:pPr>
            <a:r>
              <a:rPr lang="en-US" b="1" dirty="0"/>
              <a:t>2. </a:t>
            </a:r>
            <a:r>
              <a:rPr lang="en-US" sz="1800" b="1" dirty="0"/>
              <a:t>Urban vs Rural</a:t>
            </a:r>
          </a:p>
          <a:p>
            <a:pPr lvl="2" algn="just"/>
            <a:r>
              <a:rPr lang="en-US" dirty="0"/>
              <a:t>Urban customers demonstrated materially higher savings levels.</a:t>
            </a:r>
          </a:p>
          <a:p>
            <a:pPr lvl="2" algn="just"/>
            <a:r>
              <a:rPr lang="en-US" dirty="0"/>
              <a:t>Rural customers showed lower average balances but wider customer reach.</a:t>
            </a:r>
          </a:p>
          <a:p>
            <a:pPr marL="548640" lvl="2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3. </a:t>
            </a:r>
            <a:r>
              <a:rPr lang="en-US" sz="1800" b="1" dirty="0"/>
              <a:t>Provincial Performance</a:t>
            </a:r>
          </a:p>
          <a:p>
            <a:pPr lvl="2" algn="just"/>
            <a:r>
              <a:rPr lang="en-US" dirty="0"/>
              <a:t>Western Province contributed the highest total savings.</a:t>
            </a:r>
          </a:p>
          <a:p>
            <a:pPr lvl="2" algn="just"/>
            <a:r>
              <a:rPr lang="en-US" dirty="0"/>
              <a:t>Several provinces showed low deposit penetration and growth potential.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59694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C521-24AF-4BE8-8754-456FD7009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"/>
            <a:ext cx="9601196" cy="825910"/>
          </a:xfrm>
        </p:spPr>
        <p:txBody>
          <a:bodyPr>
            <a:normAutofit/>
          </a:bodyPr>
          <a:lstStyle/>
          <a:p>
            <a:r>
              <a:rPr lang="en-US" sz="3600" b="1" dirty="0"/>
              <a:t>Age </a:t>
            </a:r>
            <a:r>
              <a:rPr lang="en-US" sz="3600" b="1" dirty="0" err="1"/>
              <a:t>Behaviour</a:t>
            </a:r>
            <a:r>
              <a:rPr lang="en-US" sz="3600" b="1" dirty="0"/>
              <a:t> &amp; Customer Health</a:t>
            </a:r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18296E14-6511-424F-9DE5-201A417CCA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7881324"/>
              </p:ext>
            </p:extLst>
          </p:nvPr>
        </p:nvGraphicFramePr>
        <p:xfrm>
          <a:off x="108155" y="1440972"/>
          <a:ext cx="3630557" cy="3976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ABDFA5F-56D1-49D4-A156-4CB1B4C1D735}"/>
              </a:ext>
            </a:extLst>
          </p:cNvPr>
          <p:cNvSpPr txBox="1"/>
          <p:nvPr/>
        </p:nvSpPr>
        <p:spPr>
          <a:xfrm>
            <a:off x="4001729" y="1600599"/>
            <a:ext cx="786580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Findings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36–55 age group held the highest total savings balances.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Younger customers had lower balances but stronger digital adoption.</a:t>
            </a:r>
          </a:p>
          <a:p>
            <a:endParaRPr lang="en-US" dirty="0"/>
          </a:p>
          <a:p>
            <a:r>
              <a:rPr lang="en-US" sz="2000" b="1" dirty="0"/>
              <a:t>Savings Behavior According to Active vs Draining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Active savers represent financially healthy customers.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Draining customers may indicate retention or liquidity risks.</a:t>
            </a:r>
          </a:p>
          <a:p>
            <a:endParaRPr lang="en-US" sz="2000" dirty="0"/>
          </a:p>
          <a:p>
            <a:r>
              <a:rPr lang="en-US" sz="2000" b="1" dirty="0"/>
              <a:t>Business Insight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customer base remains generally healthy if active savers dominate the portfolio.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18692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D2E1-3CE5-489C-AFCE-02DB9E72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079" y="120516"/>
            <a:ext cx="9601196" cy="703965"/>
          </a:xfrm>
        </p:spPr>
        <p:txBody>
          <a:bodyPr>
            <a:normAutofit/>
          </a:bodyPr>
          <a:lstStyle/>
          <a:p>
            <a:r>
              <a:rPr lang="en-US" sz="3600" b="1" dirty="0"/>
              <a:t>Loan Portfolio &amp; Risk Analysis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74BF67-D13E-4DBC-B176-1A8219A7D6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6743061"/>
              </p:ext>
            </p:extLst>
          </p:nvPr>
        </p:nvGraphicFramePr>
        <p:xfrm>
          <a:off x="1295400" y="1108365"/>
          <a:ext cx="7769942" cy="84486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884971">
                  <a:extLst>
                    <a:ext uri="{9D8B030D-6E8A-4147-A177-3AD203B41FA5}">
                      <a16:colId xmlns:a16="http://schemas.microsoft.com/office/drawing/2014/main" val="3165906416"/>
                    </a:ext>
                  </a:extLst>
                </a:gridCol>
                <a:gridCol w="3884971">
                  <a:extLst>
                    <a:ext uri="{9D8B030D-6E8A-4147-A177-3AD203B41FA5}">
                      <a16:colId xmlns:a16="http://schemas.microsoft.com/office/drawing/2014/main" val="1241717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Metric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Value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1114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Loan Penetration Rate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43.6%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3287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</a:rPr>
                        <a:t>Customers with Loans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218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625439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501565-2077-402D-9E4D-C0DC76448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587727"/>
              </p:ext>
            </p:extLst>
          </p:nvPr>
        </p:nvGraphicFramePr>
        <p:xfrm>
          <a:off x="1295400" y="4865829"/>
          <a:ext cx="7849944" cy="74657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924972">
                  <a:extLst>
                    <a:ext uri="{9D8B030D-6E8A-4147-A177-3AD203B41FA5}">
                      <a16:colId xmlns:a16="http://schemas.microsoft.com/office/drawing/2014/main" val="1783332177"/>
                    </a:ext>
                  </a:extLst>
                </a:gridCol>
                <a:gridCol w="3924972">
                  <a:extLst>
                    <a:ext uri="{9D8B030D-6E8A-4147-A177-3AD203B41FA5}">
                      <a16:colId xmlns:a16="http://schemas.microsoft.com/office/drawing/2014/main" val="2656219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</a:rPr>
                        <a:t>Risk Metric</a:t>
                      </a:r>
                      <a:endParaRPr lang="en-US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</a:rPr>
                        <a:t>Value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037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</a:rPr>
                        <a:t>Customers Above Ratio 1.0</a:t>
                      </a:r>
                      <a:endParaRPr lang="en-US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</a:rPr>
                        <a:t>128</a:t>
                      </a:r>
                      <a:endParaRPr lang="en-US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3896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</a:rPr>
                        <a:t>High-Risk Exposure</a:t>
                      </a:r>
                      <a:endParaRPr lang="en-US" sz="14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</a:rPr>
                        <a:t>LKR 131.8 Mn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649955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CE1F45-3511-4382-8CE8-19D6A66C6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837156"/>
              </p:ext>
            </p:extLst>
          </p:nvPr>
        </p:nvGraphicFramePr>
        <p:xfrm>
          <a:off x="1295400" y="6034485"/>
          <a:ext cx="7849944" cy="497714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924972">
                  <a:extLst>
                    <a:ext uri="{9D8B030D-6E8A-4147-A177-3AD203B41FA5}">
                      <a16:colId xmlns:a16="http://schemas.microsoft.com/office/drawing/2014/main" val="3732382004"/>
                    </a:ext>
                  </a:extLst>
                </a:gridCol>
                <a:gridCol w="3924972">
                  <a:extLst>
                    <a:ext uri="{9D8B030D-6E8A-4147-A177-3AD203B41FA5}">
                      <a16:colId xmlns:a16="http://schemas.microsoft.com/office/drawing/2014/main" val="1514483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</a:rPr>
                        <a:t>Metric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</a:rPr>
                        <a:t>Value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697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</a:rPr>
                        <a:t>Default Rate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</a:rPr>
                        <a:t>4.6%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0402426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F3F1DB5-199D-4418-9AF6-9E77F7D0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399" y="762925"/>
            <a:ext cx="9601195" cy="3057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Loan Penetration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lang="en-US" altLang="en-US" sz="1600" dirty="0">
                <a:solidFill>
                  <a:srgbClr val="0A2F4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A2F40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A2F40"/>
              </a:solidFill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lang="en-US" altLang="en-US" sz="1600" dirty="0">
              <a:solidFill>
                <a:srgbClr val="0A2F40"/>
              </a:solidFill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Segment Findings</a:t>
            </a: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Premium and Regular customers showed the highest loan penetration.</a:t>
            </a: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Starter customers showed lower borrowing activity.</a:t>
            </a:r>
          </a:p>
          <a:p>
            <a:pPr lvl="1" defTabSz="914400"/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Acquisition Channel Findings</a:t>
            </a: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</a:rPr>
              <a:t>Agent and Referral channels produced the highest borrower concentration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B66D910-D0EB-4280-9DC3-D8E9A483B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926857"/>
            <a:ext cx="7474974" cy="2333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ea typeface="Times New Roman" panose="02020603050405020304" pitchFamily="18" charset="0"/>
              </a:rPr>
              <a:t>Debt-to-Savings Ratio = Outstanding Loan Balance ÷ Savings Balance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F476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Actual Risk Findings</a:t>
            </a:r>
            <a:endParaRPr lang="en-US" altLang="en-US" dirty="0">
              <a:solidFill>
                <a:srgbClr val="0F476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476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0F476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476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F476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Default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24684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D08A3-E8E6-45A0-8291-04DE3548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428" y="0"/>
            <a:ext cx="10365656" cy="865239"/>
          </a:xfrm>
        </p:spPr>
        <p:txBody>
          <a:bodyPr>
            <a:normAutofit/>
          </a:bodyPr>
          <a:lstStyle/>
          <a:p>
            <a:r>
              <a:rPr lang="en-US" sz="4000" dirty="0"/>
              <a:t>Digital Engagement &amp; Cross-Sell 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11AC9-35E2-4893-908E-C0B561A91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415" y="1123335"/>
            <a:ext cx="9601196" cy="54962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Mobile App Engagement</a:t>
            </a:r>
          </a:p>
          <a:p>
            <a:r>
              <a:rPr lang="en-US" sz="1800" dirty="0"/>
              <a:t>Mobile app users maintained stronger savings balances than non-digital customers.</a:t>
            </a:r>
          </a:p>
          <a:p>
            <a:pPr lvl="1"/>
            <a:r>
              <a:rPr lang="en-US" sz="1800" dirty="0"/>
              <a:t>Mobile App Users = 332</a:t>
            </a:r>
          </a:p>
          <a:p>
            <a:pPr lvl="1"/>
            <a:r>
              <a:rPr lang="en-US" sz="1800" dirty="0"/>
              <a:t>Mobile Adoption Rate = 66.4%</a:t>
            </a:r>
          </a:p>
          <a:p>
            <a:pPr marL="0" indent="0">
              <a:buNone/>
            </a:pPr>
            <a:r>
              <a:rPr lang="en-US" sz="1800" b="1" dirty="0"/>
              <a:t>Cross-Sell Opportunity</a:t>
            </a:r>
          </a:p>
          <a:p>
            <a:r>
              <a:rPr lang="en-US" sz="1800" dirty="0"/>
              <a:t>Customers with: Savings accounts, No Fixed Deposit, No Insurance</a:t>
            </a:r>
          </a:p>
          <a:p>
            <a:pPr marL="0" indent="0">
              <a:buNone/>
            </a:pPr>
            <a:r>
              <a:rPr lang="en-US" sz="1800" b="1" dirty="0"/>
              <a:t>Actual Opportunity Size</a:t>
            </a:r>
          </a:p>
          <a:p>
            <a:pPr lvl="1"/>
            <a:r>
              <a:rPr lang="en-US" sz="1800" dirty="0"/>
              <a:t>Cross-Sell Opportunity = 222</a:t>
            </a:r>
          </a:p>
          <a:p>
            <a:pPr lvl="1"/>
            <a:r>
              <a:rPr lang="en-US" sz="1800" dirty="0"/>
              <a:t>Total Opportunity Value = LKR 222 Mn</a:t>
            </a:r>
          </a:p>
          <a:p>
            <a:pPr marL="0" indent="0">
              <a:buNone/>
            </a:pPr>
            <a:r>
              <a:rPr lang="en-US" sz="1800" b="1" dirty="0"/>
              <a:t>Best Acquisition Channel</a:t>
            </a:r>
          </a:p>
          <a:p>
            <a:pPr lvl="1"/>
            <a:r>
              <a:rPr lang="en-US" sz="1800" dirty="0"/>
              <a:t>Referral and digital acquisition channels showed:</a:t>
            </a:r>
          </a:p>
          <a:p>
            <a:pPr lvl="1"/>
            <a:r>
              <a:rPr lang="en-US" sz="1800" dirty="0"/>
              <a:t>Higher savings balances</a:t>
            </a:r>
          </a:p>
          <a:p>
            <a:pPr lvl="1"/>
            <a:r>
              <a:rPr lang="en-US" sz="1800" dirty="0"/>
              <a:t>Lower default rates</a:t>
            </a:r>
          </a:p>
          <a:p>
            <a:pPr lvl="1"/>
            <a:r>
              <a:rPr lang="en-US" sz="1800" dirty="0"/>
              <a:t>Better engagement levels</a:t>
            </a:r>
          </a:p>
        </p:txBody>
      </p:sp>
    </p:spTree>
    <p:extLst>
      <p:ext uri="{BB962C8B-B14F-4D97-AF65-F5344CB8AC3E}">
        <p14:creationId xmlns:p14="http://schemas.microsoft.com/office/powerpoint/2010/main" val="394944534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FD22-1E15-4FDB-88E8-FE374941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99496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dirty="0"/>
              <a:t>5 KPI s in Dashboard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09B132-33B5-4BF6-ACDD-B9F11B4603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1012836"/>
              </p:ext>
            </p:extLst>
          </p:nvPr>
        </p:nvGraphicFramePr>
        <p:xfrm>
          <a:off x="1295400" y="2285999"/>
          <a:ext cx="9601200" cy="269895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36847146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92157143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133298"/>
                    </a:ext>
                  </a:extLst>
                </a:gridCol>
              </a:tblGrid>
              <a:tr h="4498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KPI</a:t>
                      </a:r>
                      <a:endParaRPr lang="en-US" sz="18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Current Value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Business Meaning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6455170"/>
                  </a:ext>
                </a:extLst>
              </a:tr>
              <a:tr h="4498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Total Customers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500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Overall customer base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6767346"/>
                  </a:ext>
                </a:extLst>
              </a:tr>
              <a:tr h="4498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Total Savings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LKR 1 Bn</a:t>
                      </a:r>
                      <a:endParaRPr lang="en-US" sz="18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Deposit strength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96346891"/>
                  </a:ext>
                </a:extLst>
              </a:tr>
              <a:tr h="4498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Mobile App Users</a:t>
                      </a:r>
                      <a:endParaRPr lang="en-US" sz="18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ptos"/>
                          <a:ea typeface="Aptos"/>
                          <a:cs typeface="Times New Roman" panose="02020603050405020304" pitchFamily="18" charset="0"/>
                        </a:rPr>
                        <a:t>332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Digital engagement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0499074"/>
                  </a:ext>
                </a:extLst>
              </a:tr>
              <a:tr h="4498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Loan Penetration Rate</a:t>
                      </a:r>
                      <a:endParaRPr lang="en-US" sz="18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43.6%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</a:rPr>
                        <a:t>Lending reach</a:t>
                      </a:r>
                      <a:endParaRPr lang="en-US" sz="18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2353416"/>
                  </a:ext>
                </a:extLst>
              </a:tr>
              <a:tr h="4498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Cross – Sell Opportunity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ptos"/>
                          <a:ea typeface="Aptos"/>
                          <a:cs typeface="Times New Roman" panose="02020603050405020304" pitchFamily="18" charset="0"/>
                        </a:rPr>
                        <a:t>222 M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dirty="0"/>
                        <a:t>Upselling opportunities</a:t>
                      </a:r>
                      <a:endParaRPr lang="en-US" sz="18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6912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9039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8C73-A129-43FE-A60A-9907C6F6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11250"/>
          </a:xfrm>
        </p:spPr>
        <p:txBody>
          <a:bodyPr>
            <a:normAutofit/>
          </a:bodyPr>
          <a:lstStyle/>
          <a:p>
            <a:r>
              <a:rPr lang="en-US" sz="4000" dirty="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40A8C-6028-49C9-B504-A8D1B4B28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975" y="914104"/>
            <a:ext cx="10058400" cy="28163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Recommendation 1 – Increase Investment in Digital &amp; Referral Acquisition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790798-05FC-4432-9606-88303361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286331"/>
              </p:ext>
            </p:extLst>
          </p:nvPr>
        </p:nvGraphicFramePr>
        <p:xfrm>
          <a:off x="1069975" y="1353017"/>
          <a:ext cx="10058400" cy="23774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00070332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760244854"/>
                    </a:ext>
                  </a:extLst>
                </a:gridCol>
              </a:tblGrid>
              <a:tr h="262481">
                <a:tc>
                  <a:txBody>
                    <a:bodyPr/>
                    <a:lstStyle/>
                    <a:p>
                      <a:r>
                        <a:rPr lang="en-US" sz="1400" dirty="0"/>
                        <a:t>Section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100172"/>
                  </a:ext>
                </a:extLst>
              </a:tr>
              <a:tr h="453376">
                <a:tc>
                  <a:txBody>
                    <a:bodyPr/>
                    <a:lstStyle/>
                    <a:p>
                      <a:r>
                        <a:rPr lang="en-US" sz="1400" dirty="0"/>
                        <a:t>Recommendation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Increase investment in Digital &amp; Referral acquisition channels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322616"/>
                  </a:ext>
                </a:extLst>
              </a:tr>
              <a:tr h="644271">
                <a:tc>
                  <a:txBody>
                    <a:bodyPr/>
                    <a:lstStyle/>
                    <a:p>
                      <a:r>
                        <a:rPr lang="en-US" sz="1400"/>
                        <a:t>Evidence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Higher savings balances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Lower default behavior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Better customer engagement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964980"/>
                  </a:ext>
                </a:extLst>
              </a:tr>
              <a:tr h="453376">
                <a:tc>
                  <a:txBody>
                    <a:bodyPr/>
                    <a:lstStyle/>
                    <a:p>
                      <a:r>
                        <a:rPr lang="en-US" sz="1400" dirty="0"/>
                        <a:t>Recommended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Expand referral campaigns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Increase app engagement initiatives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155143"/>
                  </a:ext>
                </a:extLst>
              </a:tr>
              <a:tr h="262481">
                <a:tc>
                  <a:txBody>
                    <a:bodyPr/>
                    <a:lstStyle/>
                    <a:p>
                      <a:r>
                        <a:rPr lang="en-US" sz="1400" dirty="0"/>
                        <a:t>Expected Benefit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Higher-value customers with stronger 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8707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D6881F4-33F7-4903-BB67-33C37CEBE5E4}"/>
              </a:ext>
            </a:extLst>
          </p:cNvPr>
          <p:cNvSpPr txBox="1"/>
          <p:nvPr/>
        </p:nvSpPr>
        <p:spPr>
          <a:xfrm>
            <a:off x="938981" y="3730457"/>
            <a:ext cx="1005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Recommendation 2 – Strengthen Loan Risk Monitoring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C64C421-C1C3-4CFD-8957-28460640D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558063"/>
              </p:ext>
            </p:extLst>
          </p:nvPr>
        </p:nvGraphicFramePr>
        <p:xfrm>
          <a:off x="1066800" y="4195325"/>
          <a:ext cx="10058400" cy="237744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1913410187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400021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Section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18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Recommendation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Strengthen loan risk monitoring and borrower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23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Evidence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128 customers exceeded a Debt-to-Savings ratio of 1.0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High-risk exposure reached LKR 131.8 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889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Recommended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Implement early-warning systems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Improve credit scoring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Monitor high-risk borrowers monthly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622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Expected Benefit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Reduced defaults and stronger portfolio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419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03904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ED24-3E90-49D9-9A2A-83B73C3C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91381"/>
          </a:xfrm>
        </p:spPr>
        <p:txBody>
          <a:bodyPr>
            <a:normAutofit/>
          </a:bodyPr>
          <a:lstStyle/>
          <a:p>
            <a:r>
              <a:rPr lang="en-US" sz="4000" dirty="0"/>
              <a:t>Limitations &amp; 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10311-EFCB-424F-8C3B-E86488861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87392"/>
            <a:ext cx="10058400" cy="520357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b="1" dirty="0"/>
              <a:t>Key Limitations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Data quality assumptions made during cleaning may affect accuracy of some insights.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The dataset size was limited to 500 customers, which may not fully represent the entire customer base.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Correlation does not imply causation, especially in digital engagement analysis.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External credit and economic data were unavailable, limiting deeper risk analysis. </a:t>
            </a:r>
          </a:p>
          <a:p>
            <a:pPr marL="274320" lvl="1" indent="0">
              <a:buNone/>
            </a:pPr>
            <a:endParaRPr lang="en-US" sz="2600" dirty="0"/>
          </a:p>
          <a:p>
            <a:r>
              <a:rPr lang="en-US" sz="2600" b="1" dirty="0"/>
              <a:t>Additional Data Requested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Credit bureau information for improved credit risk assessment.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Transaction-level customer </a:t>
            </a:r>
            <a:r>
              <a:rPr lang="en-US" sz="2600" dirty="0" err="1"/>
              <a:t>behaviour</a:t>
            </a:r>
            <a:r>
              <a:rPr lang="en-US" sz="2600" dirty="0"/>
              <a:t> data for deeper </a:t>
            </a:r>
            <a:r>
              <a:rPr lang="en-US" sz="2600" dirty="0" err="1"/>
              <a:t>behavioural</a:t>
            </a:r>
            <a:r>
              <a:rPr lang="en-US" sz="2600" dirty="0"/>
              <a:t> and retention analysis. </a:t>
            </a:r>
          </a:p>
          <a:p>
            <a:pPr marL="274320" lvl="1" indent="0">
              <a:lnSpc>
                <a:spcPct val="120000"/>
              </a:lnSpc>
              <a:buNone/>
            </a:pPr>
            <a:endParaRPr lang="en-US" sz="2600" dirty="0"/>
          </a:p>
          <a:p>
            <a:r>
              <a:rPr lang="en-US" sz="2600" b="1" dirty="0"/>
              <a:t>Final Conclusion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Strong savings concentration was observed among premium customers.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Mobile and digitally engaged customers demonstrated higher customer value.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Significant cross-sell opportunities exist among savings-only customers.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Elevated loan risk exposure requires proactive monitoring and stronger credit controls.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6679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FB12-9A85-472C-9BF4-873F7C00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983" y="2441251"/>
            <a:ext cx="10058400" cy="1609344"/>
          </a:xfrm>
        </p:spPr>
        <p:txBody>
          <a:bodyPr>
            <a:normAutofit/>
          </a:bodyPr>
          <a:lstStyle/>
          <a:p>
            <a:r>
              <a:rPr lang="en-US" sz="80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39481250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977</TotalTime>
  <Words>913</Words>
  <Application>Microsoft Office PowerPoint</Application>
  <PresentationFormat>Widescreen</PresentationFormat>
  <Paragraphs>212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Rockwell</vt:lpstr>
      <vt:lpstr>Rockwell Condensed</vt:lpstr>
      <vt:lpstr>Times New Roman</vt:lpstr>
      <vt:lpstr>Wingdings</vt:lpstr>
      <vt:lpstr>Wood Type</vt:lpstr>
      <vt:lpstr>FinSight Lanka</vt:lpstr>
      <vt:lpstr>Business Objective &amp; Dataset Overview</vt:lpstr>
      <vt:lpstr>Data Cleaning &amp; Preparation</vt:lpstr>
      <vt:lpstr>Customer Savings Behaviour</vt:lpstr>
      <vt:lpstr>Age Behaviour &amp; Customer Health</vt:lpstr>
      <vt:lpstr>Loan Portfolio &amp; Risk Analysis</vt:lpstr>
      <vt:lpstr>Digital Engagement &amp; Cross-Sell Opportunities</vt:lpstr>
      <vt:lpstr>5 KPI s in Dashboard</vt:lpstr>
      <vt:lpstr>Strategic Recommendations</vt:lpstr>
      <vt:lpstr>Limitations &amp; Final Conclusion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 Lanka Customer Data Analysis &amp; Business Insights</dc:title>
  <dc:creator>Sanduni Ranawake</dc:creator>
  <cp:lastModifiedBy>Sanduni Ranawake</cp:lastModifiedBy>
  <cp:revision>32</cp:revision>
  <dcterms:created xsi:type="dcterms:W3CDTF">2026-05-18T06:07:47Z</dcterms:created>
  <dcterms:modified xsi:type="dcterms:W3CDTF">2026-05-24T17:12:40Z</dcterms:modified>
</cp:coreProperties>
</file>